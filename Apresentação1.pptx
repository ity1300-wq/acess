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50" d="100"/>
          <a:sy n="150" d="100"/>
        </p:scale>
        <p:origin x="108" y="-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B1CD5-C94A-3324-9596-E92391609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F3C0F-8F99-4D51-B1E8-903FB64EB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AC06F2-F46E-A48D-0427-ECCAC957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AF6FFC-94A6-39E4-D59D-1E8E2325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7B28D6-0F2A-C5E1-8372-C907017A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78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FA02B-4D22-2C70-7DDB-4B1979F9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D6FFE2-FF72-531C-BCF2-C6E67ED54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BE589-28EC-466D-C7AB-430F975B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DEB6E-6143-CF1E-D913-B9DEE4A9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A1895-1DDB-5EA6-249D-45C46066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03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042E0-63C8-C850-66B4-13FFBAC3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34F334-DFE1-DC81-7137-5CD798B3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951ABE-A52E-AEFB-C5EA-7C2BE72F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CCBAA-5644-6DB9-B7D7-DF425E38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24A61-88B3-60E8-A94A-C584BE10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20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709BA-920F-A9D9-109F-5114D8E3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C617C8-AF31-A307-1331-FA8DC88D1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FFFFD8-90E3-0C67-9D1E-CCAEB0F2A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987150-0A39-CC2D-4B80-15F19634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D4FAA-5DD7-5F0A-44D7-BD5D5DED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1E04F8-33EB-C91B-5D76-B938BF5A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89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5E20-2A93-0FEF-C10E-AAE4D1E4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064E34-6929-9384-242C-D1AF1CD6E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C4D63A-E30A-2534-8525-B4FE641DE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5DE369-826B-3B1D-D36B-47FBE6BC3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A91E8E-FE9D-4B78-4A18-B1385639D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9FBDE8-2043-DD4F-53AB-F236C16E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EE770D-77C4-B00B-BDA0-07CEB9BE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96E480-C97E-18AD-D690-7167305D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87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CC7F6-D107-52D1-B71F-2C92E0B0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5B2DCD-B269-1657-3ADB-49F77985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78D768-2911-2D10-EA5E-55DE657B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6B5448-7E19-46BB-F77F-6CFF041F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87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7F36F5-BD20-F41C-8DE0-CFCD47E4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F79305-D6D5-F558-EBF3-DF7EF64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81C358-54B5-CBA9-A3E8-4765BEEB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08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7CCC4-354B-5A14-CE76-4285882F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FD157-2648-E7D6-4726-258157CBB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B8DB7F-FE48-E46A-1512-15CBEE2B9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7C5976-8BA0-7384-4685-1004A549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4972D7-BE25-FA36-D6C8-11D4CD1E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5778EC-BEFF-4889-1051-AA3C3572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96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880B2-3BC0-F384-79E2-B959530D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D6289A1-4E9C-1D88-3267-F25967E5C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1198C7-8899-4425-9D8A-583528F04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B4251B-BBF6-3F0B-89A3-86C47E29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2C7359-ABD9-5E2A-D184-67019E49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8C9749-0D1A-7C59-F21F-ADA6C1C4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1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0E5F4-9CFA-DBF1-1317-7DE8014A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8CDC8D-9737-AE03-7F4C-370021D23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9DAEC0-65FD-A02C-3886-6E504152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7AEA5-6197-B72B-F641-5359B8EE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2EADED-59A2-2530-F552-C2FEFF94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3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27922F-B10B-7CB5-3CF0-1D7C58D1C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0869F7-329E-1150-DE43-4C8A113B7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9E26A2-7D5F-FAE8-B6D5-E7316404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7C48E2-CA4D-D279-6683-73E54A09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4809A-B7FB-B55E-93BB-E1FD9116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66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D61E0F-EECE-3BC1-BFF9-3C43EA96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66A233-9AF4-C012-5DD4-C7B979104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97C982-B136-DEE4-6D09-165D66516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87B5B-7F69-47F7-8764-8362C0278355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09347B-5B65-46F3-5D4D-D3816F647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13262E-4ACA-D072-0E88-BA0B96DE6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A35DD-197A-4BF5-B18A-F4896E69AE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79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055AD4E-B78C-0FBC-8225-8FC042C11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2218FCE-F20E-A9E4-7F60-A107E2E93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681570"/>
              </p:ext>
            </p:extLst>
          </p:nvPr>
        </p:nvGraphicFramePr>
        <p:xfrm>
          <a:off x="412449" y="1710734"/>
          <a:ext cx="5988347" cy="1851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902">
                  <a:extLst>
                    <a:ext uri="{9D8B030D-6E8A-4147-A177-3AD203B41FA5}">
                      <a16:colId xmlns:a16="http://schemas.microsoft.com/office/drawing/2014/main" val="3562787178"/>
                    </a:ext>
                  </a:extLst>
                </a:gridCol>
                <a:gridCol w="680603">
                  <a:extLst>
                    <a:ext uri="{9D8B030D-6E8A-4147-A177-3AD203B41FA5}">
                      <a16:colId xmlns:a16="http://schemas.microsoft.com/office/drawing/2014/main" val="496111511"/>
                    </a:ext>
                  </a:extLst>
                </a:gridCol>
                <a:gridCol w="575405">
                  <a:extLst>
                    <a:ext uri="{9D8B030D-6E8A-4147-A177-3AD203B41FA5}">
                      <a16:colId xmlns:a16="http://schemas.microsoft.com/office/drawing/2014/main" val="2538870570"/>
                    </a:ext>
                  </a:extLst>
                </a:gridCol>
                <a:gridCol w="589760">
                  <a:extLst>
                    <a:ext uri="{9D8B030D-6E8A-4147-A177-3AD203B41FA5}">
                      <a16:colId xmlns:a16="http://schemas.microsoft.com/office/drawing/2014/main" val="100130496"/>
                    </a:ext>
                  </a:extLst>
                </a:gridCol>
                <a:gridCol w="589760">
                  <a:extLst>
                    <a:ext uri="{9D8B030D-6E8A-4147-A177-3AD203B41FA5}">
                      <a16:colId xmlns:a16="http://schemas.microsoft.com/office/drawing/2014/main" val="2906116016"/>
                    </a:ext>
                  </a:extLst>
                </a:gridCol>
                <a:gridCol w="740621">
                  <a:extLst>
                    <a:ext uri="{9D8B030D-6E8A-4147-A177-3AD203B41FA5}">
                      <a16:colId xmlns:a16="http://schemas.microsoft.com/office/drawing/2014/main" val="1098174121"/>
                    </a:ext>
                  </a:extLst>
                </a:gridCol>
                <a:gridCol w="552074">
                  <a:extLst>
                    <a:ext uri="{9D8B030D-6E8A-4147-A177-3AD203B41FA5}">
                      <a16:colId xmlns:a16="http://schemas.microsoft.com/office/drawing/2014/main" val="2175330592"/>
                    </a:ext>
                  </a:extLst>
                </a:gridCol>
                <a:gridCol w="552074">
                  <a:extLst>
                    <a:ext uri="{9D8B030D-6E8A-4147-A177-3AD203B41FA5}">
                      <a16:colId xmlns:a16="http://schemas.microsoft.com/office/drawing/2014/main" val="3099773085"/>
                    </a:ext>
                  </a:extLst>
                </a:gridCol>
                <a:gridCol w="552074">
                  <a:extLst>
                    <a:ext uri="{9D8B030D-6E8A-4147-A177-3AD203B41FA5}">
                      <a16:colId xmlns:a16="http://schemas.microsoft.com/office/drawing/2014/main" val="2774643397"/>
                    </a:ext>
                  </a:extLst>
                </a:gridCol>
                <a:gridCol w="552074">
                  <a:extLst>
                    <a:ext uri="{9D8B030D-6E8A-4147-A177-3AD203B41FA5}">
                      <a16:colId xmlns:a16="http://schemas.microsoft.com/office/drawing/2014/main" val="4130735908"/>
                    </a:ext>
                  </a:extLst>
                </a:gridCol>
              </a:tblGrid>
              <a:tr h="370294"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TIPO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Diâmetro mínimo</a:t>
                      </a:r>
                      <a:r>
                        <a:rPr lang="pt-BR" sz="800" b="1" baseline="0" dirty="0"/>
                        <a:t> sobre a isolação (mm)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8,7/15kV e 12/20kV </a:t>
                      </a:r>
                    </a:p>
                    <a:p>
                      <a:pPr algn="ctr"/>
                      <a:r>
                        <a:rPr lang="pt-BR" sz="800" b="1" dirty="0"/>
                        <a:t>(mm²)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/>
                </a:tc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dirty="0"/>
                        <a:t>15/25kV e 20/35kV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dirty="0"/>
                        <a:t> (mm²)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900"/>
                    </a:p>
                  </a:txBody>
                  <a:tcPr marL="46287" marR="46287" marT="23143" marB="23143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D1</a:t>
                      </a:r>
                      <a:endParaRPr lang="pt-BR" sz="800" b="1" baseline="0" dirty="0"/>
                    </a:p>
                    <a:p>
                      <a:pPr algn="ctr"/>
                      <a:r>
                        <a:rPr lang="pt-BR" sz="800" b="1" baseline="0" dirty="0"/>
                        <a:t>(mm)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Corpo</a:t>
                      </a:r>
                    </a:p>
                    <a:p>
                      <a:pPr algn="ctr"/>
                      <a:r>
                        <a:rPr lang="pt-BR" sz="800" b="1" dirty="0"/>
                        <a:t>L1</a:t>
                      </a:r>
                    </a:p>
                    <a:p>
                      <a:pPr algn="ctr"/>
                      <a:r>
                        <a:rPr lang="pt-BR" sz="800" b="1" dirty="0"/>
                        <a:t>(mm)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chemeClr val="tx1"/>
                          </a:solidFill>
                          <a:latin typeface="+mj-lt"/>
                        </a:rPr>
                        <a:t>Cobertura</a:t>
                      </a:r>
                    </a:p>
                    <a:p>
                      <a:pPr algn="ctr"/>
                      <a:r>
                        <a:rPr lang="pt-BR" sz="800" b="1" dirty="0">
                          <a:solidFill>
                            <a:schemeClr val="tx1"/>
                          </a:solidFill>
                          <a:latin typeface="+mj-lt"/>
                        </a:rPr>
                        <a:t>L2</a:t>
                      </a:r>
                    </a:p>
                    <a:p>
                      <a:pPr algn="ctr"/>
                      <a:r>
                        <a:rPr lang="pt-BR" sz="800" b="1" dirty="0">
                          <a:solidFill>
                            <a:schemeClr val="tx1"/>
                          </a:solidFill>
                          <a:latin typeface="+mj-lt"/>
                        </a:rPr>
                        <a:t>(mm)</a:t>
                      </a: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Diâmetro máximo do cabo </a:t>
                      </a:r>
                    </a:p>
                    <a:p>
                      <a:pPr algn="ctr"/>
                      <a:r>
                        <a:rPr lang="pt-BR" sz="800" b="1" dirty="0"/>
                        <a:t>(mm)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408397"/>
                  </a:ext>
                </a:extLst>
              </a:tr>
              <a:tr h="185147">
                <a:tc v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/>
                </a:tc>
                <a:tc v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REDUZIDA</a:t>
                      </a:r>
                      <a:endParaRPr lang="pt-BR" sz="800" b="1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PLENA</a:t>
                      </a:r>
                      <a:endParaRPr lang="pt-BR" sz="800" b="1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REDUZIDA</a:t>
                      </a:r>
                      <a:endParaRPr lang="pt-BR" sz="800" b="1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PLENA</a:t>
                      </a:r>
                      <a:endParaRPr lang="pt-BR" sz="800" b="1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6287" marR="46287" marT="23143" marB="2314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900" dirty="0"/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753948964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algn="l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13,8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25 a 95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25 a 95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630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3633888774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algn="l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18,4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120 a 240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120 a 185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630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4083541081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algn="l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18,4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35 a 95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35 a 70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630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2301806350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algn="l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25,3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240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240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120 a 240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95</a:t>
                      </a:r>
                      <a:r>
                        <a:rPr lang="pt-BR" sz="800" b="1" baseline="0" dirty="0"/>
                        <a:t> a 240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65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450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720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1701570768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algn="l"/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25,3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300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300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300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300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65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450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720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/>
                        <a:t>50</a:t>
                      </a:r>
                      <a:endParaRPr lang="pt-BR" sz="800" b="1" dirty="0">
                        <a:latin typeface="+mj-lt"/>
                      </a:endParaRP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3120416377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 dirty="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31,1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400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400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400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400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450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720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55</a:t>
                      </a: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367180516"/>
                  </a:ext>
                </a:extLst>
              </a:tr>
              <a:tr h="185147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800" dirty="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31,1</a:t>
                      </a:r>
                      <a:endParaRPr sz="800" dirty="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500 </a:t>
                      </a:r>
                      <a:r>
                        <a:rPr sz="800" b="1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8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b="1" spc="-5" dirty="0">
                          <a:latin typeface="Carlito"/>
                          <a:cs typeface="Carlito"/>
                        </a:rPr>
                        <a:t>630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500 </a:t>
                      </a:r>
                      <a:r>
                        <a:rPr sz="800" b="1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8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b="1" spc="-5" dirty="0">
                          <a:latin typeface="Carlito"/>
                          <a:cs typeface="Carlito"/>
                        </a:rPr>
                        <a:t>630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500 </a:t>
                      </a:r>
                      <a:r>
                        <a:rPr sz="800" b="1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8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b="1" spc="-5" dirty="0">
                          <a:latin typeface="Carlito"/>
                          <a:cs typeface="Carlito"/>
                        </a:rPr>
                        <a:t>630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500 </a:t>
                      </a:r>
                      <a:r>
                        <a:rPr sz="800" b="1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80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b="1" spc="-5" dirty="0">
                          <a:latin typeface="Carlito"/>
                          <a:cs typeface="Carlito"/>
                        </a:rPr>
                        <a:t>630</a:t>
                      </a:r>
                      <a:endParaRPr sz="800" dirty="0">
                        <a:latin typeface="Carlito"/>
                        <a:cs typeface="Carlito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450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720</a:t>
                      </a:r>
                    </a:p>
                  </a:txBody>
                  <a:tcPr marL="46287" marR="46287" marT="23143" marB="231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latin typeface="+mj-lt"/>
                        </a:rPr>
                        <a:t>55</a:t>
                      </a:r>
                    </a:p>
                  </a:txBody>
                  <a:tcPr marL="46287" marR="46287" marT="23143" marB="23143" anchor="ctr"/>
                </a:tc>
                <a:extLst>
                  <a:ext uri="{0D108BD9-81ED-4DB2-BD59-A6C34878D82A}">
                    <a16:rowId xmlns:a16="http://schemas.microsoft.com/office/drawing/2014/main" val="786203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44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Office PowerPoint</Application>
  <PresentationFormat>Widescreen</PresentationFormat>
  <Paragraphs>100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Carlito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 Cristiano</dc:creator>
  <cp:lastModifiedBy>Jonatha Cristiano</cp:lastModifiedBy>
  <cp:revision>1</cp:revision>
  <dcterms:created xsi:type="dcterms:W3CDTF">2026-09-15T17:37:22Z</dcterms:created>
  <dcterms:modified xsi:type="dcterms:W3CDTF">2026-09-15T17:39:29Z</dcterms:modified>
</cp:coreProperties>
</file>